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66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6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93783B-F7FF-42AD-BE91-A162808E1CD8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BA1CA9-C781-4BA7-A4D6-403F0CA6A05D}">
      <dgm:prSet phldrT="[Text]"/>
      <dgm:spPr/>
      <dgm:t>
        <a:bodyPr/>
        <a:lstStyle/>
        <a:p>
          <a:r>
            <a:rPr lang="en-US" dirty="0"/>
            <a:t>Given</a:t>
          </a:r>
        </a:p>
      </dgm:t>
    </dgm:pt>
    <dgm:pt modelId="{B4C98995-803C-4A46-ABD1-5D02163B9B85}" type="parTrans" cxnId="{73505273-8359-4722-BC3B-D62F0835A901}">
      <dgm:prSet/>
      <dgm:spPr/>
      <dgm:t>
        <a:bodyPr/>
        <a:lstStyle/>
        <a:p>
          <a:endParaRPr lang="en-US"/>
        </a:p>
      </dgm:t>
    </dgm:pt>
    <dgm:pt modelId="{4A5C4638-9B35-4F6F-9D77-A88E08826854}" type="sibTrans" cxnId="{73505273-8359-4722-BC3B-D62F0835A901}">
      <dgm:prSet/>
      <dgm:spPr/>
      <dgm:t>
        <a:bodyPr/>
        <a:lstStyle/>
        <a:p>
          <a:endParaRPr lang="en-US"/>
        </a:p>
      </dgm:t>
    </dgm:pt>
    <dgm:pt modelId="{0F1A2EB2-FFA0-401E-BDAA-4068FC583302}">
      <dgm:prSet phldrT="[Text]"/>
      <dgm:spPr/>
      <dgm:t>
        <a:bodyPr/>
        <a:lstStyle/>
        <a:p>
          <a:r>
            <a:rPr lang="en-US" dirty="0"/>
            <a:t>Decide</a:t>
          </a:r>
        </a:p>
      </dgm:t>
    </dgm:pt>
    <dgm:pt modelId="{3D45A815-4E93-4048-B0AE-E25A00928F96}" type="parTrans" cxnId="{CD044E1E-FBE4-4868-A5FB-4B74A2187035}">
      <dgm:prSet/>
      <dgm:spPr/>
      <dgm:t>
        <a:bodyPr/>
        <a:lstStyle/>
        <a:p>
          <a:endParaRPr lang="en-US"/>
        </a:p>
      </dgm:t>
    </dgm:pt>
    <dgm:pt modelId="{F8D89708-280C-4D58-AF38-1D57790BAAAD}" type="sibTrans" cxnId="{CD044E1E-FBE4-4868-A5FB-4B74A2187035}">
      <dgm:prSet/>
      <dgm:spPr/>
      <dgm:t>
        <a:bodyPr/>
        <a:lstStyle/>
        <a:p>
          <a:endParaRPr lang="en-US"/>
        </a:p>
      </dgm:t>
    </dgm:pt>
    <dgm:pt modelId="{0CBDE2F8-4E35-4BB2-AFFD-6C55F66D84DF}">
      <dgm:prSet phldrT="[Text]"/>
      <dgm:spPr/>
      <dgm:t>
        <a:bodyPr/>
        <a:lstStyle/>
        <a:p>
          <a:r>
            <a:rPr lang="en-US" dirty="0"/>
            <a:t>Original Service-Rate Grooming : Each OTN switch processes at its initial granularity.</a:t>
          </a:r>
        </a:p>
      </dgm:t>
    </dgm:pt>
    <dgm:pt modelId="{9E362EA5-6DDB-41AA-9231-393251B5ED17}" type="parTrans" cxnId="{E44F48E8-77BA-426C-9035-84485C5FBBE4}">
      <dgm:prSet/>
      <dgm:spPr/>
      <dgm:t>
        <a:bodyPr/>
        <a:lstStyle/>
        <a:p>
          <a:endParaRPr lang="en-US"/>
        </a:p>
      </dgm:t>
    </dgm:pt>
    <dgm:pt modelId="{6525668B-244A-452F-9DF9-FBA4099E58C0}" type="sibTrans" cxnId="{E44F48E8-77BA-426C-9035-84485C5FBBE4}">
      <dgm:prSet/>
      <dgm:spPr/>
      <dgm:t>
        <a:bodyPr/>
        <a:lstStyle/>
        <a:p>
          <a:endParaRPr lang="en-US"/>
        </a:p>
      </dgm:t>
    </dgm:pt>
    <dgm:pt modelId="{FAF62032-8DBF-4A27-9C61-AFC3A6EC12FF}">
      <dgm:prSet phldrT="[Text]"/>
      <dgm:spPr/>
      <dgm:t>
        <a:bodyPr/>
        <a:lstStyle/>
        <a:p>
          <a:r>
            <a:rPr lang="en-US" dirty="0"/>
            <a:t>Objective</a:t>
          </a:r>
        </a:p>
      </dgm:t>
    </dgm:pt>
    <dgm:pt modelId="{7D9BCCF7-FC54-423E-8DE1-A1FFF929FE86}" type="parTrans" cxnId="{DCA06442-EFEC-4E88-A30E-21326C4F1B20}">
      <dgm:prSet/>
      <dgm:spPr/>
      <dgm:t>
        <a:bodyPr/>
        <a:lstStyle/>
        <a:p>
          <a:endParaRPr lang="en-US"/>
        </a:p>
      </dgm:t>
    </dgm:pt>
    <dgm:pt modelId="{87F59923-F67D-4668-AAAA-DA10DD80AC8D}" type="sibTrans" cxnId="{DCA06442-EFEC-4E88-A30E-21326C4F1B20}">
      <dgm:prSet/>
      <dgm:spPr/>
      <dgm:t>
        <a:bodyPr/>
        <a:lstStyle/>
        <a:p>
          <a:endParaRPr lang="en-US"/>
        </a:p>
      </dgm:t>
    </dgm:pt>
    <dgm:pt modelId="{AB421A45-16FB-42A1-9256-AE8C7D99FF5E}">
      <dgm:prSet phldrT="[Text]"/>
      <dgm:spPr/>
      <dgm:t>
        <a:bodyPr/>
        <a:lstStyle/>
        <a:p>
          <a:pPr>
            <a:buNone/>
          </a:pPr>
          <a:r>
            <a:rPr lang="en-US" dirty="0"/>
            <a:t>It Compares the performance of grooming at different granularities and analyze the trade-offs between:</a:t>
          </a:r>
        </a:p>
      </dgm:t>
    </dgm:pt>
    <dgm:pt modelId="{23909CC3-F6E4-4499-BCCD-7C99AD728996}" type="parTrans" cxnId="{64F3C4C3-76CB-4D9E-9BF7-6E21DCF926D8}">
      <dgm:prSet/>
      <dgm:spPr/>
      <dgm:t>
        <a:bodyPr/>
        <a:lstStyle/>
        <a:p>
          <a:endParaRPr lang="en-US"/>
        </a:p>
      </dgm:t>
    </dgm:pt>
    <dgm:pt modelId="{F38A04AE-5445-471D-A522-F3D57AB5A439}" type="sibTrans" cxnId="{64F3C4C3-76CB-4D9E-9BF7-6E21DCF926D8}">
      <dgm:prSet/>
      <dgm:spPr/>
      <dgm:t>
        <a:bodyPr/>
        <a:lstStyle/>
        <a:p>
          <a:endParaRPr lang="en-US"/>
        </a:p>
      </dgm:t>
    </dgm:pt>
    <dgm:pt modelId="{200CFBBF-778B-4576-BC5F-9E98612C47A7}">
      <dgm:prSet phldrT="[Text]"/>
      <dgm:spPr/>
      <dgm:t>
        <a:bodyPr/>
        <a:lstStyle/>
        <a:p>
          <a:r>
            <a:rPr lang="en-US" dirty="0"/>
            <a:t>Constraints</a:t>
          </a:r>
        </a:p>
      </dgm:t>
    </dgm:pt>
    <dgm:pt modelId="{BFCF7C5F-A32A-4890-9E00-D3CCD2AA1752}" type="parTrans" cxnId="{C045BB77-BE50-4C78-AAA1-65250F3C9741}">
      <dgm:prSet/>
      <dgm:spPr/>
      <dgm:t>
        <a:bodyPr/>
        <a:lstStyle/>
        <a:p>
          <a:endParaRPr lang="en-US"/>
        </a:p>
      </dgm:t>
    </dgm:pt>
    <dgm:pt modelId="{0D388A71-4388-4F92-9F39-0088D84F1808}" type="sibTrans" cxnId="{C045BB77-BE50-4C78-AAA1-65250F3C9741}">
      <dgm:prSet/>
      <dgm:spPr/>
      <dgm:t>
        <a:bodyPr/>
        <a:lstStyle/>
        <a:p>
          <a:endParaRPr lang="en-US"/>
        </a:p>
      </dgm:t>
    </dgm:pt>
    <dgm:pt modelId="{4BBC8EF7-4A0D-4865-9F9A-7B2F10AE0A47}">
      <dgm:prSet phldrT="[Text]"/>
      <dgm:spPr/>
      <dgm:t>
        <a:bodyPr/>
        <a:lstStyle/>
        <a:p>
          <a:r>
            <a:rPr lang="en-US" dirty="0"/>
            <a:t>Network topology</a:t>
          </a:r>
        </a:p>
      </dgm:t>
    </dgm:pt>
    <dgm:pt modelId="{4039BB6C-A6F6-4FBB-A0EC-5830CCD71DFA}" type="sibTrans" cxnId="{28C6F863-4493-4189-A192-BDBC7693FFA8}">
      <dgm:prSet/>
      <dgm:spPr/>
      <dgm:t>
        <a:bodyPr/>
        <a:lstStyle/>
        <a:p>
          <a:endParaRPr lang="en-US"/>
        </a:p>
      </dgm:t>
    </dgm:pt>
    <dgm:pt modelId="{8C0625D6-4677-4A28-AC9F-B11EFDE7FE04}" type="parTrans" cxnId="{28C6F863-4493-4189-A192-BDBC7693FFA8}">
      <dgm:prSet/>
      <dgm:spPr/>
      <dgm:t>
        <a:bodyPr/>
        <a:lstStyle/>
        <a:p>
          <a:endParaRPr lang="en-US"/>
        </a:p>
      </dgm:t>
    </dgm:pt>
    <dgm:pt modelId="{1501CFAF-8909-433F-B856-AF99219BF072}">
      <dgm:prSet phldrT="[Text]"/>
      <dgm:spPr/>
      <dgm:t>
        <a:bodyPr/>
        <a:lstStyle/>
        <a:p>
          <a:r>
            <a:rPr lang="en-US" dirty="0"/>
            <a:t>Set of traffic requests (traffic matrix)</a:t>
          </a:r>
        </a:p>
      </dgm:t>
    </dgm:pt>
    <dgm:pt modelId="{0B90371C-5464-4B6D-8FE0-7F164F5136A6}" type="parTrans" cxnId="{8298DC13-F4FB-4D3B-B734-7CD74804AFA3}">
      <dgm:prSet/>
      <dgm:spPr/>
      <dgm:t>
        <a:bodyPr/>
        <a:lstStyle/>
        <a:p>
          <a:endParaRPr lang="en-US"/>
        </a:p>
      </dgm:t>
    </dgm:pt>
    <dgm:pt modelId="{225DDD75-A642-4A14-B19B-A9A6D54C1A9E}" type="sibTrans" cxnId="{8298DC13-F4FB-4D3B-B734-7CD74804AFA3}">
      <dgm:prSet/>
      <dgm:spPr/>
      <dgm:t>
        <a:bodyPr/>
        <a:lstStyle/>
        <a:p>
          <a:endParaRPr lang="en-US"/>
        </a:p>
      </dgm:t>
    </dgm:pt>
    <dgm:pt modelId="{A5CE6A3B-C211-4A3F-9439-14AEE1CAC553}">
      <dgm:prSet phldrT="[Text]"/>
      <dgm:spPr/>
      <dgm:t>
        <a:bodyPr/>
        <a:lstStyle/>
        <a:p>
          <a:r>
            <a:rPr lang="en-US" dirty="0"/>
            <a:t>Set of hierarchical OTN grooming boards and interfaces</a:t>
          </a:r>
        </a:p>
      </dgm:t>
    </dgm:pt>
    <dgm:pt modelId="{B2C2870C-483D-4AB5-81CD-4FF52BAD10F7}" type="parTrans" cxnId="{F49D3AA4-1EA1-48F2-AACC-8EB8A337ED2D}">
      <dgm:prSet/>
      <dgm:spPr/>
      <dgm:t>
        <a:bodyPr/>
        <a:lstStyle/>
        <a:p>
          <a:endParaRPr lang="en-US"/>
        </a:p>
      </dgm:t>
    </dgm:pt>
    <dgm:pt modelId="{F23C55EE-4A55-44B3-B4D3-771EE6D1C3B6}" type="sibTrans" cxnId="{F49D3AA4-1EA1-48F2-AACC-8EB8A337ED2D}">
      <dgm:prSet/>
      <dgm:spPr/>
      <dgm:t>
        <a:bodyPr/>
        <a:lstStyle/>
        <a:p>
          <a:endParaRPr lang="en-US"/>
        </a:p>
      </dgm:t>
    </dgm:pt>
    <dgm:pt modelId="{3CC2E132-1270-49BA-BFB4-A8C37B6F90AF}">
      <dgm:prSet phldrT="[Text]"/>
      <dgm:spPr/>
      <dgm:t>
        <a:bodyPr/>
        <a:lstStyle/>
        <a:p>
          <a:r>
            <a:rPr lang="en-US" dirty="0"/>
            <a:t>Intermediate Granularity Grooming : Traffic is processed at an intermediate rate that matches the format of the previous OTN switch’s output.</a:t>
          </a:r>
        </a:p>
      </dgm:t>
    </dgm:pt>
    <dgm:pt modelId="{791027C6-ED67-4CE9-AA18-BD3D0E32222E}" type="parTrans" cxnId="{572762B3-FDC7-4F08-ACE5-92DC8385E7A1}">
      <dgm:prSet/>
      <dgm:spPr/>
      <dgm:t>
        <a:bodyPr/>
        <a:lstStyle/>
        <a:p>
          <a:endParaRPr lang="en-US"/>
        </a:p>
      </dgm:t>
    </dgm:pt>
    <dgm:pt modelId="{57D4CD9D-F526-4882-8070-F90896E22D60}" type="sibTrans" cxnId="{572762B3-FDC7-4F08-ACE5-92DC8385E7A1}">
      <dgm:prSet/>
      <dgm:spPr/>
      <dgm:t>
        <a:bodyPr/>
        <a:lstStyle/>
        <a:p>
          <a:endParaRPr lang="en-US"/>
        </a:p>
      </dgm:t>
    </dgm:pt>
    <dgm:pt modelId="{B5D23E28-CC8A-4F11-8BA0-21768431F473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OTN Matrix Capacity: Considering the effect of different granulation if services on capacity and ODU’s OTN1 &amp; OTN2.</a:t>
          </a:r>
        </a:p>
      </dgm:t>
    </dgm:pt>
    <dgm:pt modelId="{CE77B28D-462D-4D7F-B717-1359A167A3E5}" type="parTrans" cxnId="{6DEA4D3A-9BA9-4E3E-9558-A5275778261D}">
      <dgm:prSet/>
      <dgm:spPr/>
      <dgm:t>
        <a:bodyPr/>
        <a:lstStyle/>
        <a:p>
          <a:endParaRPr lang="en-US"/>
        </a:p>
      </dgm:t>
    </dgm:pt>
    <dgm:pt modelId="{28B44964-83D9-447F-B5B7-5C8A62903625}" type="sibTrans" cxnId="{6DEA4D3A-9BA9-4E3E-9558-A5275778261D}">
      <dgm:prSet/>
      <dgm:spPr/>
      <dgm:t>
        <a:bodyPr/>
        <a:lstStyle/>
        <a:p>
          <a:endParaRPr lang="en-US"/>
        </a:p>
      </dgm:t>
    </dgm:pt>
    <dgm:pt modelId="{B77DCAD9-E4AA-4233-8AB9-2BF191AD590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Fiber Saturation: How much of the fiber’s capacity is utilized, potentially affecting network congestion and scalability.</a:t>
          </a:r>
        </a:p>
      </dgm:t>
    </dgm:pt>
    <dgm:pt modelId="{BC5BC306-DF79-422C-BD05-D182E57AB9A5}" type="parTrans" cxnId="{98A4FA4A-293F-4E1A-9F0E-5792030711D9}">
      <dgm:prSet/>
      <dgm:spPr/>
      <dgm:t>
        <a:bodyPr/>
        <a:lstStyle/>
        <a:p>
          <a:endParaRPr lang="en-US"/>
        </a:p>
      </dgm:t>
    </dgm:pt>
    <dgm:pt modelId="{9990432F-B9BF-4540-9BDD-1E5AB5FEE95A}" type="sibTrans" cxnId="{98A4FA4A-293F-4E1A-9F0E-5792030711D9}">
      <dgm:prSet/>
      <dgm:spPr/>
      <dgm:t>
        <a:bodyPr/>
        <a:lstStyle/>
        <a:p>
          <a:endParaRPr lang="en-US"/>
        </a:p>
      </dgm:t>
    </dgm:pt>
    <dgm:pt modelId="{D0B6F666-E9B7-4E62-81B9-D59B078CE97E}">
      <dgm:prSet/>
      <dgm:spPr/>
      <dgm:t>
        <a:bodyPr/>
        <a:lstStyle/>
        <a:p>
          <a:r>
            <a:rPr lang="en-US" dirty="0"/>
            <a:t>Traffic-processing capacity of OTN boards </a:t>
          </a:r>
          <a:r>
            <a:rPr lang="en-US"/>
            <a:t>and interfaces </a:t>
          </a:r>
          <a:endParaRPr lang="en-US" dirty="0"/>
        </a:p>
      </dgm:t>
    </dgm:pt>
    <dgm:pt modelId="{1D57C96A-E66C-477D-B667-D7F7EA4B3FF6}" type="parTrans" cxnId="{E052EEFC-E47C-4E5C-83F2-3636EF4BA78C}">
      <dgm:prSet/>
      <dgm:spPr/>
      <dgm:t>
        <a:bodyPr/>
        <a:lstStyle/>
        <a:p>
          <a:endParaRPr lang="en-US"/>
        </a:p>
      </dgm:t>
    </dgm:pt>
    <dgm:pt modelId="{C493A030-5B49-4C14-8BE9-2DAC2743EDE8}" type="sibTrans" cxnId="{E052EEFC-E47C-4E5C-83F2-3636EF4BA78C}">
      <dgm:prSet/>
      <dgm:spPr/>
      <dgm:t>
        <a:bodyPr/>
        <a:lstStyle/>
        <a:p>
          <a:endParaRPr lang="en-US"/>
        </a:p>
      </dgm:t>
    </dgm:pt>
    <dgm:pt modelId="{83C6A27B-99ED-4C21-B985-17A8170D1344}">
      <dgm:prSet/>
      <dgm:spPr/>
      <dgm:t>
        <a:bodyPr/>
        <a:lstStyle/>
        <a:p>
          <a:r>
            <a:rPr lang="en-US" dirty="0"/>
            <a:t>Maximum number of client interfaces per board</a:t>
          </a:r>
        </a:p>
      </dgm:t>
    </dgm:pt>
    <dgm:pt modelId="{02EF025D-2DBE-4BE8-A178-1FD20CBAB664}" type="parTrans" cxnId="{36D2FC48-6652-4E91-8695-BADE112E2AAB}">
      <dgm:prSet/>
      <dgm:spPr/>
      <dgm:t>
        <a:bodyPr/>
        <a:lstStyle/>
        <a:p>
          <a:endParaRPr lang="en-US"/>
        </a:p>
      </dgm:t>
    </dgm:pt>
    <dgm:pt modelId="{EF7FEB65-37ED-4CD3-9AD0-E122A999B1EE}" type="sibTrans" cxnId="{36D2FC48-6652-4E91-8695-BADE112E2AAB}">
      <dgm:prSet/>
      <dgm:spPr/>
      <dgm:t>
        <a:bodyPr/>
        <a:lstStyle/>
        <a:p>
          <a:endParaRPr lang="en-US"/>
        </a:p>
      </dgm:t>
    </dgm:pt>
    <dgm:pt modelId="{97D1A1D9-9005-4478-8574-60A85F0B49F5}">
      <dgm:prSet/>
      <dgm:spPr/>
      <dgm:t>
        <a:bodyPr/>
        <a:lstStyle/>
        <a:p>
          <a:r>
            <a:rPr lang="en-US" dirty="0"/>
            <a:t>Wavelength capacity limits</a:t>
          </a:r>
        </a:p>
      </dgm:t>
    </dgm:pt>
    <dgm:pt modelId="{730EE2C1-7427-4877-B840-3875DD9F0E36}" type="parTrans" cxnId="{2D52C687-91CA-4AAA-96B1-91A0D0398896}">
      <dgm:prSet/>
      <dgm:spPr/>
      <dgm:t>
        <a:bodyPr/>
        <a:lstStyle/>
        <a:p>
          <a:endParaRPr lang="en-US"/>
        </a:p>
      </dgm:t>
    </dgm:pt>
    <dgm:pt modelId="{737EBBA6-D109-4705-9069-C98FC3654B3F}" type="sibTrans" cxnId="{2D52C687-91CA-4AAA-96B1-91A0D0398896}">
      <dgm:prSet/>
      <dgm:spPr/>
      <dgm:t>
        <a:bodyPr/>
        <a:lstStyle/>
        <a:p>
          <a:endParaRPr lang="en-US"/>
        </a:p>
      </dgm:t>
    </dgm:pt>
    <dgm:pt modelId="{44060CCF-EE68-40B6-9127-63246D2A41E0}" type="pres">
      <dgm:prSet presAssocID="{4393783B-F7FF-42AD-BE91-A162808E1CD8}" presName="linearFlow" presStyleCnt="0">
        <dgm:presLayoutVars>
          <dgm:dir/>
          <dgm:animLvl val="lvl"/>
          <dgm:resizeHandles val="exact"/>
        </dgm:presLayoutVars>
      </dgm:prSet>
      <dgm:spPr/>
    </dgm:pt>
    <dgm:pt modelId="{F3C69EE5-E158-481C-8A45-952B191E0C05}" type="pres">
      <dgm:prSet presAssocID="{1CBA1CA9-C781-4BA7-A4D6-403F0CA6A05D}" presName="composite" presStyleCnt="0"/>
      <dgm:spPr/>
    </dgm:pt>
    <dgm:pt modelId="{22EC7F3A-9822-4836-9A2C-8DD2897D17D1}" type="pres">
      <dgm:prSet presAssocID="{1CBA1CA9-C781-4BA7-A4D6-403F0CA6A05D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6A177BA0-6F91-44BA-A770-B10CB1BF9A4D}" type="pres">
      <dgm:prSet presAssocID="{1CBA1CA9-C781-4BA7-A4D6-403F0CA6A05D}" presName="descendantText" presStyleLbl="alignAcc1" presStyleIdx="0" presStyleCnt="4">
        <dgm:presLayoutVars>
          <dgm:bulletEnabled val="1"/>
        </dgm:presLayoutVars>
      </dgm:prSet>
      <dgm:spPr/>
    </dgm:pt>
    <dgm:pt modelId="{59EF007A-1732-4080-856D-C4FD8D27CC8B}" type="pres">
      <dgm:prSet presAssocID="{4A5C4638-9B35-4F6F-9D77-A88E08826854}" presName="sp" presStyleCnt="0"/>
      <dgm:spPr/>
    </dgm:pt>
    <dgm:pt modelId="{CDF499E8-BDD7-4F38-B2C8-1FCCBE38E001}" type="pres">
      <dgm:prSet presAssocID="{0F1A2EB2-FFA0-401E-BDAA-4068FC583302}" presName="composite" presStyleCnt="0"/>
      <dgm:spPr/>
    </dgm:pt>
    <dgm:pt modelId="{3577ADFB-582A-48F7-B352-E6DBDBB2703F}" type="pres">
      <dgm:prSet presAssocID="{0F1A2EB2-FFA0-401E-BDAA-4068FC583302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8D8E7DDA-631D-49B9-B56F-0C4E615801AA}" type="pres">
      <dgm:prSet presAssocID="{0F1A2EB2-FFA0-401E-BDAA-4068FC583302}" presName="descendantText" presStyleLbl="alignAcc1" presStyleIdx="1" presStyleCnt="4">
        <dgm:presLayoutVars>
          <dgm:bulletEnabled val="1"/>
        </dgm:presLayoutVars>
      </dgm:prSet>
      <dgm:spPr/>
    </dgm:pt>
    <dgm:pt modelId="{6E6114F4-E8EA-4C4E-A6C0-CF602FFAD240}" type="pres">
      <dgm:prSet presAssocID="{F8D89708-280C-4D58-AF38-1D57790BAAAD}" presName="sp" presStyleCnt="0"/>
      <dgm:spPr/>
    </dgm:pt>
    <dgm:pt modelId="{C8E18405-A335-464A-A4AD-71490BF031E2}" type="pres">
      <dgm:prSet presAssocID="{FAF62032-8DBF-4A27-9C61-AFC3A6EC12FF}" presName="composite" presStyleCnt="0"/>
      <dgm:spPr/>
    </dgm:pt>
    <dgm:pt modelId="{8DA046F9-944A-4530-92E6-0089D10293F6}" type="pres">
      <dgm:prSet presAssocID="{FAF62032-8DBF-4A27-9C61-AFC3A6EC12FF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230B9893-73F1-4D21-A4DF-07C4E1693E52}" type="pres">
      <dgm:prSet presAssocID="{FAF62032-8DBF-4A27-9C61-AFC3A6EC12FF}" presName="descendantText" presStyleLbl="alignAcc1" presStyleIdx="2" presStyleCnt="4">
        <dgm:presLayoutVars>
          <dgm:bulletEnabled val="1"/>
        </dgm:presLayoutVars>
      </dgm:prSet>
      <dgm:spPr/>
    </dgm:pt>
    <dgm:pt modelId="{AF3CE169-CC03-4453-B298-832908421402}" type="pres">
      <dgm:prSet presAssocID="{87F59923-F67D-4668-AAAA-DA10DD80AC8D}" presName="sp" presStyleCnt="0"/>
      <dgm:spPr/>
    </dgm:pt>
    <dgm:pt modelId="{DF7547FB-F60E-4004-AD13-526310D212A9}" type="pres">
      <dgm:prSet presAssocID="{200CFBBF-778B-4576-BC5F-9E98612C47A7}" presName="composite" presStyleCnt="0"/>
      <dgm:spPr/>
    </dgm:pt>
    <dgm:pt modelId="{623227C2-4379-40DC-9E0E-8DA0EE93AB73}" type="pres">
      <dgm:prSet presAssocID="{200CFBBF-778B-4576-BC5F-9E98612C47A7}" presName="parentText" presStyleLbl="alignNode1" presStyleIdx="3" presStyleCnt="4" custLinFactNeighborX="-5973" custLinFactNeighborY="98670">
        <dgm:presLayoutVars>
          <dgm:chMax val="1"/>
          <dgm:bulletEnabled val="1"/>
        </dgm:presLayoutVars>
      </dgm:prSet>
      <dgm:spPr/>
    </dgm:pt>
    <dgm:pt modelId="{430548EC-45A4-4501-B83A-3A11E73A6CD9}" type="pres">
      <dgm:prSet presAssocID="{200CFBBF-778B-4576-BC5F-9E98612C47A7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C2587909-5E38-4EA2-8E42-45D819960D53}" type="presOf" srcId="{A5CE6A3B-C211-4A3F-9439-14AEE1CAC553}" destId="{6A177BA0-6F91-44BA-A770-B10CB1BF9A4D}" srcOrd="0" destOrd="2" presId="urn:microsoft.com/office/officeart/2005/8/layout/chevron2"/>
    <dgm:cxn modelId="{1306830E-3E46-4D58-94D4-97A0BB38D153}" type="presOf" srcId="{0CBDE2F8-4E35-4BB2-AFFD-6C55F66D84DF}" destId="{8D8E7DDA-631D-49B9-B56F-0C4E615801AA}" srcOrd="0" destOrd="0" presId="urn:microsoft.com/office/officeart/2005/8/layout/chevron2"/>
    <dgm:cxn modelId="{8298DC13-F4FB-4D3B-B734-7CD74804AFA3}" srcId="{1CBA1CA9-C781-4BA7-A4D6-403F0CA6A05D}" destId="{1501CFAF-8909-433F-B856-AF99219BF072}" srcOrd="1" destOrd="0" parTransId="{0B90371C-5464-4B6D-8FE0-7F164F5136A6}" sibTransId="{225DDD75-A642-4A14-B19B-A9A6D54C1A9E}"/>
    <dgm:cxn modelId="{41617717-DCC0-43B0-AC0B-E38E7D17E8B4}" type="presOf" srcId="{4393783B-F7FF-42AD-BE91-A162808E1CD8}" destId="{44060CCF-EE68-40B6-9127-63246D2A41E0}" srcOrd="0" destOrd="0" presId="urn:microsoft.com/office/officeart/2005/8/layout/chevron2"/>
    <dgm:cxn modelId="{CD044E1E-FBE4-4868-A5FB-4B74A2187035}" srcId="{4393783B-F7FF-42AD-BE91-A162808E1CD8}" destId="{0F1A2EB2-FFA0-401E-BDAA-4068FC583302}" srcOrd="1" destOrd="0" parTransId="{3D45A815-4E93-4048-B0AE-E25A00928F96}" sibTransId="{F8D89708-280C-4D58-AF38-1D57790BAAAD}"/>
    <dgm:cxn modelId="{E117E32E-96F5-4F96-855C-139ECFDE023C}" type="presOf" srcId="{D0B6F666-E9B7-4E62-81B9-D59B078CE97E}" destId="{430548EC-45A4-4501-B83A-3A11E73A6CD9}" srcOrd="0" destOrd="0" presId="urn:microsoft.com/office/officeart/2005/8/layout/chevron2"/>
    <dgm:cxn modelId="{7C859633-EC8F-47C7-A4E6-BC0037CB0A26}" type="presOf" srcId="{83C6A27B-99ED-4C21-B985-17A8170D1344}" destId="{430548EC-45A4-4501-B83A-3A11E73A6CD9}" srcOrd="0" destOrd="1" presId="urn:microsoft.com/office/officeart/2005/8/layout/chevron2"/>
    <dgm:cxn modelId="{2762BF39-8162-4878-89A8-EE1B8496BBC7}" type="presOf" srcId="{B77DCAD9-E4AA-4233-8AB9-2BF191AD590E}" destId="{230B9893-73F1-4D21-A4DF-07C4E1693E52}" srcOrd="0" destOrd="2" presId="urn:microsoft.com/office/officeart/2005/8/layout/chevron2"/>
    <dgm:cxn modelId="{6DEA4D3A-9BA9-4E3E-9558-A5275778261D}" srcId="{FAF62032-8DBF-4A27-9C61-AFC3A6EC12FF}" destId="{B5D23E28-CC8A-4F11-8BA0-21768431F473}" srcOrd="1" destOrd="0" parTransId="{CE77B28D-462D-4D7F-B717-1359A167A3E5}" sibTransId="{28B44964-83D9-447F-B5B7-5C8A62903625}"/>
    <dgm:cxn modelId="{E0A5DA60-9B30-41FD-B427-ED2AB0F534D3}" type="presOf" srcId="{0F1A2EB2-FFA0-401E-BDAA-4068FC583302}" destId="{3577ADFB-582A-48F7-B352-E6DBDBB2703F}" srcOrd="0" destOrd="0" presId="urn:microsoft.com/office/officeart/2005/8/layout/chevron2"/>
    <dgm:cxn modelId="{DCA06442-EFEC-4E88-A30E-21326C4F1B20}" srcId="{4393783B-F7FF-42AD-BE91-A162808E1CD8}" destId="{FAF62032-8DBF-4A27-9C61-AFC3A6EC12FF}" srcOrd="2" destOrd="0" parTransId="{7D9BCCF7-FC54-423E-8DE1-A1FFF929FE86}" sibTransId="{87F59923-F67D-4668-AAAA-DA10DD80AC8D}"/>
    <dgm:cxn modelId="{28C6F863-4493-4189-A192-BDBC7693FFA8}" srcId="{1CBA1CA9-C781-4BA7-A4D6-403F0CA6A05D}" destId="{4BBC8EF7-4A0D-4865-9F9A-7B2F10AE0A47}" srcOrd="0" destOrd="0" parTransId="{8C0625D6-4677-4A28-AC9F-B11EFDE7FE04}" sibTransId="{4039BB6C-A6F6-4FBB-A0EC-5830CCD71DFA}"/>
    <dgm:cxn modelId="{781C3368-1960-426C-9464-62D53137A89E}" type="presOf" srcId="{97D1A1D9-9005-4478-8574-60A85F0B49F5}" destId="{430548EC-45A4-4501-B83A-3A11E73A6CD9}" srcOrd="0" destOrd="2" presId="urn:microsoft.com/office/officeart/2005/8/layout/chevron2"/>
    <dgm:cxn modelId="{36D2FC48-6652-4E91-8695-BADE112E2AAB}" srcId="{200CFBBF-778B-4576-BC5F-9E98612C47A7}" destId="{83C6A27B-99ED-4C21-B985-17A8170D1344}" srcOrd="1" destOrd="0" parTransId="{02EF025D-2DBE-4BE8-A178-1FD20CBAB664}" sibTransId="{EF7FEB65-37ED-4CD3-9AD0-E122A999B1EE}"/>
    <dgm:cxn modelId="{98A4FA4A-293F-4E1A-9F0E-5792030711D9}" srcId="{FAF62032-8DBF-4A27-9C61-AFC3A6EC12FF}" destId="{B77DCAD9-E4AA-4233-8AB9-2BF191AD590E}" srcOrd="2" destOrd="0" parTransId="{BC5BC306-DF79-422C-BD05-D182E57AB9A5}" sibTransId="{9990432F-B9BF-4540-9BDD-1E5AB5FEE95A}"/>
    <dgm:cxn modelId="{73505273-8359-4722-BC3B-D62F0835A901}" srcId="{4393783B-F7FF-42AD-BE91-A162808E1CD8}" destId="{1CBA1CA9-C781-4BA7-A4D6-403F0CA6A05D}" srcOrd="0" destOrd="0" parTransId="{B4C98995-803C-4A46-ABD1-5D02163B9B85}" sibTransId="{4A5C4638-9B35-4F6F-9D77-A88E08826854}"/>
    <dgm:cxn modelId="{C045BB77-BE50-4C78-AAA1-65250F3C9741}" srcId="{4393783B-F7FF-42AD-BE91-A162808E1CD8}" destId="{200CFBBF-778B-4576-BC5F-9E98612C47A7}" srcOrd="3" destOrd="0" parTransId="{BFCF7C5F-A32A-4890-9E00-D3CCD2AA1752}" sibTransId="{0D388A71-4388-4F92-9F39-0088D84F1808}"/>
    <dgm:cxn modelId="{C48DDA7C-08CB-4D8E-9769-037FC753DB93}" type="presOf" srcId="{FAF62032-8DBF-4A27-9C61-AFC3A6EC12FF}" destId="{8DA046F9-944A-4530-92E6-0089D10293F6}" srcOrd="0" destOrd="0" presId="urn:microsoft.com/office/officeart/2005/8/layout/chevron2"/>
    <dgm:cxn modelId="{5181C985-2F50-45D1-9AF7-3DD2E5273E3B}" type="presOf" srcId="{3CC2E132-1270-49BA-BFB4-A8C37B6F90AF}" destId="{8D8E7DDA-631D-49B9-B56F-0C4E615801AA}" srcOrd="0" destOrd="1" presId="urn:microsoft.com/office/officeart/2005/8/layout/chevron2"/>
    <dgm:cxn modelId="{2D52C687-91CA-4AAA-96B1-91A0D0398896}" srcId="{200CFBBF-778B-4576-BC5F-9E98612C47A7}" destId="{97D1A1D9-9005-4478-8574-60A85F0B49F5}" srcOrd="2" destOrd="0" parTransId="{730EE2C1-7427-4877-B840-3875DD9F0E36}" sibTransId="{737EBBA6-D109-4705-9069-C98FC3654B3F}"/>
    <dgm:cxn modelId="{3FAE9A89-5EFB-4F64-AAB2-97691D87A626}" type="presOf" srcId="{200CFBBF-778B-4576-BC5F-9E98612C47A7}" destId="{623227C2-4379-40DC-9E0E-8DA0EE93AB73}" srcOrd="0" destOrd="0" presId="urn:microsoft.com/office/officeart/2005/8/layout/chevron2"/>
    <dgm:cxn modelId="{AF0D1091-CAFE-4E5E-BFD3-BAEB43B0F6EC}" type="presOf" srcId="{B5D23E28-CC8A-4F11-8BA0-21768431F473}" destId="{230B9893-73F1-4D21-A4DF-07C4E1693E52}" srcOrd="0" destOrd="1" presId="urn:microsoft.com/office/officeart/2005/8/layout/chevron2"/>
    <dgm:cxn modelId="{24767E99-81E8-45A0-A574-94D7DC754735}" type="presOf" srcId="{1CBA1CA9-C781-4BA7-A4D6-403F0CA6A05D}" destId="{22EC7F3A-9822-4836-9A2C-8DD2897D17D1}" srcOrd="0" destOrd="0" presId="urn:microsoft.com/office/officeart/2005/8/layout/chevron2"/>
    <dgm:cxn modelId="{F49D3AA4-1EA1-48F2-AACC-8EB8A337ED2D}" srcId="{1CBA1CA9-C781-4BA7-A4D6-403F0CA6A05D}" destId="{A5CE6A3B-C211-4A3F-9439-14AEE1CAC553}" srcOrd="2" destOrd="0" parTransId="{B2C2870C-483D-4AB5-81CD-4FF52BAD10F7}" sibTransId="{F23C55EE-4A55-44B3-B4D3-771EE6D1C3B6}"/>
    <dgm:cxn modelId="{718F18AC-6686-47BE-98F4-ED201BC1BBD0}" type="presOf" srcId="{AB421A45-16FB-42A1-9256-AE8C7D99FF5E}" destId="{230B9893-73F1-4D21-A4DF-07C4E1693E52}" srcOrd="0" destOrd="0" presId="urn:microsoft.com/office/officeart/2005/8/layout/chevron2"/>
    <dgm:cxn modelId="{572762B3-FDC7-4F08-ACE5-92DC8385E7A1}" srcId="{0F1A2EB2-FFA0-401E-BDAA-4068FC583302}" destId="{3CC2E132-1270-49BA-BFB4-A8C37B6F90AF}" srcOrd="1" destOrd="0" parTransId="{791027C6-ED67-4CE9-AA18-BD3D0E32222E}" sibTransId="{57D4CD9D-F526-4882-8070-F90896E22D60}"/>
    <dgm:cxn modelId="{64F3C4C3-76CB-4D9E-9BF7-6E21DCF926D8}" srcId="{FAF62032-8DBF-4A27-9C61-AFC3A6EC12FF}" destId="{AB421A45-16FB-42A1-9256-AE8C7D99FF5E}" srcOrd="0" destOrd="0" parTransId="{23909CC3-F6E4-4499-BCCD-7C99AD728996}" sibTransId="{F38A04AE-5445-471D-A522-F3D57AB5A439}"/>
    <dgm:cxn modelId="{4C319FD3-6227-4132-9FDE-923EF58F891E}" type="presOf" srcId="{4BBC8EF7-4A0D-4865-9F9A-7B2F10AE0A47}" destId="{6A177BA0-6F91-44BA-A770-B10CB1BF9A4D}" srcOrd="0" destOrd="0" presId="urn:microsoft.com/office/officeart/2005/8/layout/chevron2"/>
    <dgm:cxn modelId="{678AB6DC-A9F7-425E-82B8-20747308EF79}" type="presOf" srcId="{1501CFAF-8909-433F-B856-AF99219BF072}" destId="{6A177BA0-6F91-44BA-A770-B10CB1BF9A4D}" srcOrd="0" destOrd="1" presId="urn:microsoft.com/office/officeart/2005/8/layout/chevron2"/>
    <dgm:cxn modelId="{E44F48E8-77BA-426C-9035-84485C5FBBE4}" srcId="{0F1A2EB2-FFA0-401E-BDAA-4068FC583302}" destId="{0CBDE2F8-4E35-4BB2-AFFD-6C55F66D84DF}" srcOrd="0" destOrd="0" parTransId="{9E362EA5-6DDB-41AA-9231-393251B5ED17}" sibTransId="{6525668B-244A-452F-9DF9-FBA4099E58C0}"/>
    <dgm:cxn modelId="{E052EEFC-E47C-4E5C-83F2-3636EF4BA78C}" srcId="{200CFBBF-778B-4576-BC5F-9E98612C47A7}" destId="{D0B6F666-E9B7-4E62-81B9-D59B078CE97E}" srcOrd="0" destOrd="0" parTransId="{1D57C96A-E66C-477D-B667-D7F7EA4B3FF6}" sibTransId="{C493A030-5B49-4C14-8BE9-2DAC2743EDE8}"/>
    <dgm:cxn modelId="{FD8EEA3A-3B5E-4471-B6DC-227FC4885E5B}" type="presParOf" srcId="{44060CCF-EE68-40B6-9127-63246D2A41E0}" destId="{F3C69EE5-E158-481C-8A45-952B191E0C05}" srcOrd="0" destOrd="0" presId="urn:microsoft.com/office/officeart/2005/8/layout/chevron2"/>
    <dgm:cxn modelId="{1162B253-53D6-4D67-9ACE-ABB53AA8D33D}" type="presParOf" srcId="{F3C69EE5-E158-481C-8A45-952B191E0C05}" destId="{22EC7F3A-9822-4836-9A2C-8DD2897D17D1}" srcOrd="0" destOrd="0" presId="urn:microsoft.com/office/officeart/2005/8/layout/chevron2"/>
    <dgm:cxn modelId="{0D12F6CD-0C08-47CA-892C-667D00494487}" type="presParOf" srcId="{F3C69EE5-E158-481C-8A45-952B191E0C05}" destId="{6A177BA0-6F91-44BA-A770-B10CB1BF9A4D}" srcOrd="1" destOrd="0" presId="urn:microsoft.com/office/officeart/2005/8/layout/chevron2"/>
    <dgm:cxn modelId="{7D8D2798-038A-4394-A293-4D0EAE4D1262}" type="presParOf" srcId="{44060CCF-EE68-40B6-9127-63246D2A41E0}" destId="{59EF007A-1732-4080-856D-C4FD8D27CC8B}" srcOrd="1" destOrd="0" presId="urn:microsoft.com/office/officeart/2005/8/layout/chevron2"/>
    <dgm:cxn modelId="{FC2B67F9-8651-48FF-9418-B50F968C589D}" type="presParOf" srcId="{44060CCF-EE68-40B6-9127-63246D2A41E0}" destId="{CDF499E8-BDD7-4F38-B2C8-1FCCBE38E001}" srcOrd="2" destOrd="0" presId="urn:microsoft.com/office/officeart/2005/8/layout/chevron2"/>
    <dgm:cxn modelId="{8ACF2D4A-0639-4E14-90E8-39B353C4FA36}" type="presParOf" srcId="{CDF499E8-BDD7-4F38-B2C8-1FCCBE38E001}" destId="{3577ADFB-582A-48F7-B352-E6DBDBB2703F}" srcOrd="0" destOrd="0" presId="urn:microsoft.com/office/officeart/2005/8/layout/chevron2"/>
    <dgm:cxn modelId="{0F4979B6-BA8D-4F3D-841A-AD995601C2B0}" type="presParOf" srcId="{CDF499E8-BDD7-4F38-B2C8-1FCCBE38E001}" destId="{8D8E7DDA-631D-49B9-B56F-0C4E615801AA}" srcOrd="1" destOrd="0" presId="urn:microsoft.com/office/officeart/2005/8/layout/chevron2"/>
    <dgm:cxn modelId="{0DAB551F-E547-444F-82A5-117CA5C6502E}" type="presParOf" srcId="{44060CCF-EE68-40B6-9127-63246D2A41E0}" destId="{6E6114F4-E8EA-4C4E-A6C0-CF602FFAD240}" srcOrd="3" destOrd="0" presId="urn:microsoft.com/office/officeart/2005/8/layout/chevron2"/>
    <dgm:cxn modelId="{B1953702-5384-45AF-9A26-1AA502A5AD7A}" type="presParOf" srcId="{44060CCF-EE68-40B6-9127-63246D2A41E0}" destId="{C8E18405-A335-464A-A4AD-71490BF031E2}" srcOrd="4" destOrd="0" presId="urn:microsoft.com/office/officeart/2005/8/layout/chevron2"/>
    <dgm:cxn modelId="{93881D3A-9C24-4546-88FD-9B25B6709E22}" type="presParOf" srcId="{C8E18405-A335-464A-A4AD-71490BF031E2}" destId="{8DA046F9-944A-4530-92E6-0089D10293F6}" srcOrd="0" destOrd="0" presId="urn:microsoft.com/office/officeart/2005/8/layout/chevron2"/>
    <dgm:cxn modelId="{4527DC0C-2A37-48F6-A3F5-55A595B02CE6}" type="presParOf" srcId="{C8E18405-A335-464A-A4AD-71490BF031E2}" destId="{230B9893-73F1-4D21-A4DF-07C4E1693E52}" srcOrd="1" destOrd="0" presId="urn:microsoft.com/office/officeart/2005/8/layout/chevron2"/>
    <dgm:cxn modelId="{CB24C7D2-4B9A-4516-AB4D-11E218B65C7C}" type="presParOf" srcId="{44060CCF-EE68-40B6-9127-63246D2A41E0}" destId="{AF3CE169-CC03-4453-B298-832908421402}" srcOrd="5" destOrd="0" presId="urn:microsoft.com/office/officeart/2005/8/layout/chevron2"/>
    <dgm:cxn modelId="{A62FD884-264F-4A03-98BE-AF92DFBBF066}" type="presParOf" srcId="{44060CCF-EE68-40B6-9127-63246D2A41E0}" destId="{DF7547FB-F60E-4004-AD13-526310D212A9}" srcOrd="6" destOrd="0" presId="urn:microsoft.com/office/officeart/2005/8/layout/chevron2"/>
    <dgm:cxn modelId="{0C73D3DC-959B-49B9-9B09-026C8719247A}" type="presParOf" srcId="{DF7547FB-F60E-4004-AD13-526310D212A9}" destId="{623227C2-4379-40DC-9E0E-8DA0EE93AB73}" srcOrd="0" destOrd="0" presId="urn:microsoft.com/office/officeart/2005/8/layout/chevron2"/>
    <dgm:cxn modelId="{F8A63BE4-0837-4D93-88BF-04E132C3ECF1}" type="presParOf" srcId="{DF7547FB-F60E-4004-AD13-526310D212A9}" destId="{430548EC-45A4-4501-B83A-3A11E73A6CD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C7F3A-9822-4836-9A2C-8DD2897D17D1}">
      <dsp:nvSpPr>
        <dsp:cNvPr id="0" name=""/>
        <dsp:cNvSpPr/>
      </dsp:nvSpPr>
      <dsp:spPr>
        <a:xfrm rot="5400000">
          <a:off x="-194523" y="195773"/>
          <a:ext cx="1296825" cy="9077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Given</a:t>
          </a:r>
        </a:p>
      </dsp:txBody>
      <dsp:txXfrm rot="-5400000">
        <a:off x="2" y="455138"/>
        <a:ext cx="907777" cy="389048"/>
      </dsp:txXfrm>
    </dsp:sp>
    <dsp:sp modelId="{6A177BA0-6F91-44BA-A770-B10CB1BF9A4D}">
      <dsp:nvSpPr>
        <dsp:cNvPr id="0" name=""/>
        <dsp:cNvSpPr/>
      </dsp:nvSpPr>
      <dsp:spPr>
        <a:xfrm rot="5400000">
          <a:off x="5176344" y="-4267317"/>
          <a:ext cx="842936" cy="938006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Network topology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Set of traffic requests (traffic matrix)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Set of hierarchical OTN grooming boards and interfaces</a:t>
          </a:r>
        </a:p>
      </dsp:txBody>
      <dsp:txXfrm rot="-5400000">
        <a:off x="907778" y="42398"/>
        <a:ext cx="9338920" cy="760638"/>
      </dsp:txXfrm>
    </dsp:sp>
    <dsp:sp modelId="{3577ADFB-582A-48F7-B352-E6DBDBB2703F}">
      <dsp:nvSpPr>
        <dsp:cNvPr id="0" name=""/>
        <dsp:cNvSpPr/>
      </dsp:nvSpPr>
      <dsp:spPr>
        <a:xfrm rot="5400000">
          <a:off x="-194523" y="1346384"/>
          <a:ext cx="1296825" cy="9077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Decide</a:t>
          </a:r>
        </a:p>
      </dsp:txBody>
      <dsp:txXfrm rot="-5400000">
        <a:off x="2" y="1605749"/>
        <a:ext cx="907777" cy="389048"/>
      </dsp:txXfrm>
    </dsp:sp>
    <dsp:sp modelId="{8D8E7DDA-631D-49B9-B56F-0C4E615801AA}">
      <dsp:nvSpPr>
        <dsp:cNvPr id="0" name=""/>
        <dsp:cNvSpPr/>
      </dsp:nvSpPr>
      <dsp:spPr>
        <a:xfrm rot="5400000">
          <a:off x="5176344" y="-3116705"/>
          <a:ext cx="842936" cy="938006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Original Service-Rate Grooming : Each OTN switch processes at its initial granularity.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Intermediate Granularity Grooming : Traffic is processed at an intermediate rate that matches the format of the previous OTN switch’s output.</a:t>
          </a:r>
        </a:p>
      </dsp:txBody>
      <dsp:txXfrm rot="-5400000">
        <a:off x="907778" y="1193010"/>
        <a:ext cx="9338920" cy="760638"/>
      </dsp:txXfrm>
    </dsp:sp>
    <dsp:sp modelId="{8DA046F9-944A-4530-92E6-0089D10293F6}">
      <dsp:nvSpPr>
        <dsp:cNvPr id="0" name=""/>
        <dsp:cNvSpPr/>
      </dsp:nvSpPr>
      <dsp:spPr>
        <a:xfrm rot="5400000">
          <a:off x="-194523" y="2496996"/>
          <a:ext cx="1296825" cy="9077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Objective</a:t>
          </a:r>
        </a:p>
      </dsp:txBody>
      <dsp:txXfrm rot="-5400000">
        <a:off x="2" y="2756361"/>
        <a:ext cx="907777" cy="389048"/>
      </dsp:txXfrm>
    </dsp:sp>
    <dsp:sp modelId="{230B9893-73F1-4D21-A4DF-07C4E1693E52}">
      <dsp:nvSpPr>
        <dsp:cNvPr id="0" name=""/>
        <dsp:cNvSpPr/>
      </dsp:nvSpPr>
      <dsp:spPr>
        <a:xfrm rot="5400000">
          <a:off x="5176344" y="-1966093"/>
          <a:ext cx="842936" cy="938006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It Compares the performance of grooming at different granularities and analyze the trade-offs between: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OTN Matrix Capacity: Considering the effect of different granulation if services on capacity and ODU’s OTN1 &amp; OTN2.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Fiber Saturation: How much of the fiber’s capacity is utilized, potentially affecting network congestion and scalability.</a:t>
          </a:r>
        </a:p>
      </dsp:txBody>
      <dsp:txXfrm rot="-5400000">
        <a:off x="907778" y="2343622"/>
        <a:ext cx="9338920" cy="760638"/>
      </dsp:txXfrm>
    </dsp:sp>
    <dsp:sp modelId="{623227C2-4379-40DC-9E0E-8DA0EE93AB73}">
      <dsp:nvSpPr>
        <dsp:cNvPr id="0" name=""/>
        <dsp:cNvSpPr/>
      </dsp:nvSpPr>
      <dsp:spPr>
        <a:xfrm rot="5400000">
          <a:off x="-194523" y="3648857"/>
          <a:ext cx="1296825" cy="9077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Constraints</a:t>
          </a:r>
        </a:p>
      </dsp:txBody>
      <dsp:txXfrm rot="-5400000">
        <a:off x="2" y="3908222"/>
        <a:ext cx="907777" cy="389048"/>
      </dsp:txXfrm>
    </dsp:sp>
    <dsp:sp modelId="{430548EC-45A4-4501-B83A-3A11E73A6CD9}">
      <dsp:nvSpPr>
        <dsp:cNvPr id="0" name=""/>
        <dsp:cNvSpPr/>
      </dsp:nvSpPr>
      <dsp:spPr>
        <a:xfrm rot="5400000">
          <a:off x="5176344" y="-815482"/>
          <a:ext cx="842936" cy="938006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Traffic-processing capacity of OTN boards </a:t>
          </a:r>
          <a:r>
            <a:rPr lang="en-US" sz="1500" kern="1200"/>
            <a:t>and interfaces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Maximum number of client interfaces per board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Wavelength capacity limits</a:t>
          </a:r>
        </a:p>
      </dsp:txBody>
      <dsp:txXfrm rot="-5400000">
        <a:off x="907778" y="3494233"/>
        <a:ext cx="9338920" cy="7606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FC050-9C1D-4A44-B4C3-0E30B77BCAC1}" type="datetimeFigureOut">
              <a:rPr lang="it-IT" smtClean="0"/>
              <a:t>06/03/2025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D5E19-E7CA-45F6-8D44-210B4E61BA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0400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4" b="42715"/>
          <a:stretch/>
        </p:blipFill>
        <p:spPr>
          <a:xfrm>
            <a:off x="0" y="1485900"/>
            <a:ext cx="12192000" cy="5372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6675"/>
            <a:ext cx="4552632" cy="1348649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838200" y="2441055"/>
            <a:ext cx="10515600" cy="1325563"/>
          </a:xfrm>
        </p:spPr>
        <p:txBody>
          <a:bodyPr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Thesis Title</a:t>
            </a:r>
            <a:endParaRPr lang="it-IT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393353" y="5415995"/>
            <a:ext cx="3527854" cy="31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Supervisor</a:t>
            </a:r>
            <a:endParaRPr lang="it-IT" dirty="0"/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393353" y="5888254"/>
            <a:ext cx="3527854" cy="31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Co-Supervisor</a:t>
            </a:r>
            <a:endParaRPr lang="it-IT" dirty="0"/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8305798" y="5415995"/>
            <a:ext cx="3527854" cy="31985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Candidate</a:t>
            </a:r>
            <a:endParaRPr lang="it-IT" dirty="0"/>
          </a:p>
        </p:txBody>
      </p:sp>
      <p:sp>
        <p:nvSpPr>
          <p:cNvPr id="2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8305798" y="5888254"/>
            <a:ext cx="3527854" cy="31985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Academic Year</a:t>
            </a:r>
            <a:endParaRPr lang="it-IT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4251979" y="6285667"/>
            <a:ext cx="3688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aseline="0" dirty="0">
                <a:solidFill>
                  <a:schemeClr val="bg1"/>
                </a:solidFill>
                <a:latin typeface="+mj-lt"/>
              </a:rPr>
              <a:t>School of Industrial and Information Engineering</a:t>
            </a:r>
          </a:p>
          <a:p>
            <a:pPr algn="ctr"/>
            <a:r>
              <a:rPr lang="it-IT" sz="1600" baseline="0" dirty="0">
                <a:solidFill>
                  <a:schemeClr val="bg1"/>
                </a:solidFill>
                <a:latin typeface="+mj-lt"/>
              </a:rPr>
              <a:t>Master of Science – Energy Engineering</a:t>
            </a:r>
          </a:p>
        </p:txBody>
      </p:sp>
    </p:spTree>
    <p:extLst>
      <p:ext uri="{BB962C8B-B14F-4D97-AF65-F5344CB8AC3E}">
        <p14:creationId xmlns:p14="http://schemas.microsoft.com/office/powerpoint/2010/main" val="59527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1" b="2733"/>
          <a:stretch/>
        </p:blipFill>
        <p:spPr>
          <a:xfrm>
            <a:off x="-1" y="6226218"/>
            <a:ext cx="12191999" cy="6317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196" r="782"/>
          <a:stretch/>
        </p:blipFill>
        <p:spPr>
          <a:xfrm>
            <a:off x="0" y="0"/>
            <a:ext cx="12191999" cy="10238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2" y="6267469"/>
            <a:ext cx="3083718" cy="551728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11013988" y="6359546"/>
            <a:ext cx="965887" cy="365125"/>
          </a:xfrm>
        </p:spPr>
        <p:txBody>
          <a:bodyPr/>
          <a:lstStyle>
            <a:lvl1pPr>
              <a:defRPr sz="1600" b="1" i="0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fld id="{DCE09022-C08B-4F34-B9F0-43AC160DA04C}" type="slidenum">
              <a:rPr lang="it-IT" smtClean="0"/>
              <a:pPr/>
              <a:t>‹#›</a:t>
            </a:fld>
            <a:r>
              <a:rPr lang="it-IT" dirty="0"/>
              <a:t>/XX</a:t>
            </a:r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05355" y="90617"/>
            <a:ext cx="6971271" cy="543697"/>
          </a:xfrm>
        </p:spPr>
        <p:txBody>
          <a:bodyPr>
            <a:normAutofit/>
          </a:bodyPr>
          <a:lstStyle>
            <a:lvl1pPr>
              <a:defRPr sz="2800" b="1" i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798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50178-FFDF-4188-8352-D71733CC4DC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258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Traffic Grooming in OTN2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358349" y="5728324"/>
            <a:ext cx="3527854" cy="319859"/>
          </a:xfrm>
        </p:spPr>
        <p:txBody>
          <a:bodyPr/>
          <a:lstStyle/>
          <a:p>
            <a:r>
              <a:rPr lang="it-IT" dirty="0"/>
              <a:t>CND final project in coolabration with Nokia company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444483" y="4124213"/>
            <a:ext cx="3527854" cy="319859"/>
          </a:xfrm>
        </p:spPr>
        <p:txBody>
          <a:bodyPr/>
          <a:lstStyle/>
          <a:p>
            <a:pPr algn="ctr"/>
            <a:r>
              <a:rPr lang="it-IT" dirty="0"/>
              <a:t>Amirali Askari</a:t>
            </a:r>
          </a:p>
          <a:p>
            <a:pPr algn="ctr"/>
            <a:r>
              <a:rPr lang="it-IT" dirty="0"/>
              <a:t>Seyed Mohammad Tabatabaei</a:t>
            </a:r>
          </a:p>
          <a:p>
            <a:pPr algn="ctr"/>
            <a:r>
              <a:rPr lang="it-IT" dirty="0"/>
              <a:t>Zahra Nazar Zadeh Attar</a:t>
            </a:r>
          </a:p>
          <a:p>
            <a:pPr algn="ctr"/>
            <a:r>
              <a:rPr lang="it-IT" dirty="0"/>
              <a:t>Liwen cui</a:t>
            </a:r>
          </a:p>
          <a:p>
            <a:pPr algn="ctr"/>
            <a:endParaRPr lang="it-IT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2024-2025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42EFF3-12D9-A421-71D4-4162C9ED3C52}"/>
              </a:ext>
            </a:extLst>
          </p:cNvPr>
          <p:cNvSpPr/>
          <p:nvPr/>
        </p:nvSpPr>
        <p:spPr>
          <a:xfrm>
            <a:off x="6096000" y="6543413"/>
            <a:ext cx="3752675" cy="209724"/>
          </a:xfrm>
          <a:prstGeom prst="rect">
            <a:avLst/>
          </a:prstGeom>
          <a:solidFill>
            <a:srgbClr val="213652"/>
          </a:solidFill>
          <a:ln>
            <a:solidFill>
              <a:srgbClr val="2136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Telecommunication Engineering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0C53D9D-96B0-A0FE-A5C6-BF03D77355A9}"/>
              </a:ext>
            </a:extLst>
          </p:cNvPr>
          <p:cNvSpPr txBox="1">
            <a:spLocks/>
          </p:cNvSpPr>
          <p:nvPr/>
        </p:nvSpPr>
        <p:spPr>
          <a:xfrm>
            <a:off x="-134223" y="3429000"/>
            <a:ext cx="12138869" cy="425270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400" dirty="0"/>
              <a:t>Comparing the performance of grooming at the original service-rate and at the lower granularity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0136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</a:t>
            </a:fld>
            <a:r>
              <a:rPr lang="it-IT" dirty="0"/>
              <a:t>/12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FBCD4C-1560-8B8A-CFC0-15153E32FB91}"/>
              </a:ext>
            </a:extLst>
          </p:cNvPr>
          <p:cNvSpPr txBox="1"/>
          <p:nvPr/>
        </p:nvSpPr>
        <p:spPr>
          <a:xfrm>
            <a:off x="583527" y="1096214"/>
            <a:ext cx="1057383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Traffic Grooming</a:t>
            </a:r>
          </a:p>
          <a:p>
            <a:r>
              <a:rPr lang="en-US" sz="2000" dirty="0"/>
              <a:t>The process of aggregating multiple low-rate services into a single high-capacity optical </a:t>
            </a:r>
            <a:r>
              <a:rPr lang="en-US" sz="2000" dirty="0" err="1"/>
              <a:t>lightpath</a:t>
            </a:r>
            <a:r>
              <a:rPr lang="en-US" sz="2000" dirty="0"/>
              <a:t> to save spectrum and reduce the number of costly optical transponder.</a:t>
            </a:r>
          </a:p>
          <a:p>
            <a:endParaRPr lang="en-US" sz="2000" b="1" dirty="0"/>
          </a:p>
          <a:p>
            <a:r>
              <a:rPr lang="en-US" sz="2400" b="1" dirty="0"/>
              <a:t>Cascading Effect</a:t>
            </a:r>
          </a:p>
          <a:p>
            <a:r>
              <a:rPr lang="en-US" sz="2000" dirty="0"/>
              <a:t>An optical Transport Network (OTN) service can traverse multiple OTN switches before reaching the wavelength Division Multiplexing (WDM) network. It considers a scenario with two OTN switching levels.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48901C-D6FC-88CC-7EB7-67E202243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26" y="3814190"/>
            <a:ext cx="5466664" cy="198895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376DFF-C681-1017-9605-AC73D6B9C6FF}"/>
              </a:ext>
            </a:extLst>
          </p:cNvPr>
          <p:cNvSpPr/>
          <p:nvPr/>
        </p:nvSpPr>
        <p:spPr>
          <a:xfrm>
            <a:off x="6449394" y="3933500"/>
            <a:ext cx="816376" cy="2832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Packet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ACD7522-05E3-7853-8049-07BE4F108E44}"/>
              </a:ext>
            </a:extLst>
          </p:cNvPr>
          <p:cNvSpPr/>
          <p:nvPr/>
        </p:nvSpPr>
        <p:spPr>
          <a:xfrm>
            <a:off x="7407366" y="3917538"/>
            <a:ext cx="816376" cy="2832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Packet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DC051D-01DF-A99F-F1C9-DC5E75A90D8A}"/>
              </a:ext>
            </a:extLst>
          </p:cNvPr>
          <p:cNvSpPr/>
          <p:nvPr/>
        </p:nvSpPr>
        <p:spPr>
          <a:xfrm>
            <a:off x="8365338" y="3906341"/>
            <a:ext cx="816376" cy="2832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Packet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95EF2C-DE0E-16F8-D4B9-1AA186906244}"/>
              </a:ext>
            </a:extLst>
          </p:cNvPr>
          <p:cNvSpPr/>
          <p:nvPr/>
        </p:nvSpPr>
        <p:spPr>
          <a:xfrm>
            <a:off x="9323310" y="3917538"/>
            <a:ext cx="816376" cy="2832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Packet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CC59918F-6896-A180-E014-F0DB38FEDD3B}"/>
              </a:ext>
            </a:extLst>
          </p:cNvPr>
          <p:cNvSpPr/>
          <p:nvPr/>
        </p:nvSpPr>
        <p:spPr>
          <a:xfrm>
            <a:off x="7729435" y="4352419"/>
            <a:ext cx="667945" cy="5278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5AA8E9-EE30-AA92-800E-E8CA3C3A9D63}"/>
              </a:ext>
            </a:extLst>
          </p:cNvPr>
          <p:cNvSpPr/>
          <p:nvPr/>
        </p:nvSpPr>
        <p:spPr>
          <a:xfrm>
            <a:off x="7265770" y="5231046"/>
            <a:ext cx="1611611" cy="4797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BOX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9DD44F5-E606-A248-C6F4-40D3CC3CB893}"/>
              </a:ext>
            </a:extLst>
          </p:cNvPr>
          <p:cNvSpPr/>
          <p:nvPr/>
        </p:nvSpPr>
        <p:spPr>
          <a:xfrm>
            <a:off x="9264177" y="5256818"/>
            <a:ext cx="642356" cy="4797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6E61CA-307D-D454-0EA9-76E7B7B3DB71}"/>
              </a:ext>
            </a:extLst>
          </p:cNvPr>
          <p:cNvSpPr txBox="1"/>
          <p:nvPr/>
        </p:nvSpPr>
        <p:spPr>
          <a:xfrm>
            <a:off x="8951776" y="4827956"/>
            <a:ext cx="1278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Transport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2F0A37-5EF4-6317-8B20-2DCB95A3833D}"/>
              </a:ext>
            </a:extLst>
          </p:cNvPr>
          <p:cNvSpPr/>
          <p:nvPr/>
        </p:nvSpPr>
        <p:spPr>
          <a:xfrm>
            <a:off x="10055773" y="5224551"/>
            <a:ext cx="1461105" cy="5885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Network</a:t>
            </a:r>
          </a:p>
        </p:txBody>
      </p:sp>
    </p:spTree>
    <p:extLst>
      <p:ext uri="{BB962C8B-B14F-4D97-AF65-F5344CB8AC3E}">
        <p14:creationId xmlns:p14="http://schemas.microsoft.com/office/powerpoint/2010/main" val="170150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47091-7CC1-FDAF-61C1-2B24EA46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D1D597-5013-95FD-E484-57819667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</a:t>
            </a:fld>
            <a:r>
              <a:rPr lang="it-IT" dirty="0"/>
              <a:t>/12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5D5F96-F09D-8541-8C8D-D7E2943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Problem Statement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DBA5A546-9674-4FAF-A627-9906EA973C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7116399"/>
              </p:ext>
            </p:extLst>
          </p:nvPr>
        </p:nvGraphicFramePr>
        <p:xfrm>
          <a:off x="726140" y="1196634"/>
          <a:ext cx="10287847" cy="4751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3447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5A1CC-7FF0-68FB-BF8C-F5924488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934E55-2BBC-C13C-C5B2-4D34C388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</a:t>
            </a:fld>
            <a:r>
              <a:rPr lang="it-IT" dirty="0"/>
              <a:t>/12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2E874E-08EC-8907-2BE7-E63435A0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3187E0-7AA7-1945-8AF9-F32004CEC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41" y="1856542"/>
            <a:ext cx="2689699" cy="397543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0EE6D2C-617F-6A41-17C6-C6F58157B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591754"/>
              </p:ext>
            </p:extLst>
          </p:nvPr>
        </p:nvGraphicFramePr>
        <p:xfrm>
          <a:off x="7888435" y="2249693"/>
          <a:ext cx="3526123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059">
                  <a:extLst>
                    <a:ext uri="{9D8B030D-6E8A-4147-A177-3AD203B41FA5}">
                      <a16:colId xmlns:a16="http://schemas.microsoft.com/office/drawing/2014/main" val="3475435048"/>
                    </a:ext>
                  </a:extLst>
                </a:gridCol>
                <a:gridCol w="837688">
                  <a:extLst>
                    <a:ext uri="{9D8B030D-6E8A-4147-A177-3AD203B41FA5}">
                      <a16:colId xmlns:a16="http://schemas.microsoft.com/office/drawing/2014/main" val="1684969293"/>
                    </a:ext>
                  </a:extLst>
                </a:gridCol>
                <a:gridCol w="837688">
                  <a:extLst>
                    <a:ext uri="{9D8B030D-6E8A-4147-A177-3AD203B41FA5}">
                      <a16:colId xmlns:a16="http://schemas.microsoft.com/office/drawing/2014/main" val="1553246784"/>
                    </a:ext>
                  </a:extLst>
                </a:gridCol>
                <a:gridCol w="837688">
                  <a:extLst>
                    <a:ext uri="{9D8B030D-6E8A-4147-A177-3AD203B41FA5}">
                      <a16:colId xmlns:a16="http://schemas.microsoft.com/office/drawing/2014/main" val="332931332"/>
                    </a:ext>
                  </a:extLst>
                </a:gridCol>
              </a:tblGrid>
              <a:tr h="606450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  <a:p>
                      <a:pPr algn="ctr"/>
                      <a:r>
                        <a:rPr lang="en-US" sz="1200" dirty="0"/>
                        <a:t>OTN1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Used </a:t>
                      </a:r>
                    </a:p>
                    <a:p>
                      <a:pPr algn="ctr"/>
                      <a:r>
                        <a:rPr lang="en-US" sz="1200" dirty="0"/>
                        <a:t>capacity, Gb/s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Occupied </a:t>
                      </a:r>
                    </a:p>
                    <a:p>
                      <a:pPr algn="ctr"/>
                      <a:r>
                        <a:rPr lang="en-US" sz="1200" dirty="0"/>
                        <a:t>Capacity,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used 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043909"/>
                  </a:ext>
                </a:extLst>
              </a:tr>
              <a:tr h="25990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Client I/O 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2*10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405408"/>
                  </a:ext>
                </a:extLst>
              </a:tr>
              <a:tr h="25990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1*100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592903"/>
                  </a:ext>
                </a:extLst>
              </a:tr>
              <a:tr h="433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OTN1-OTN2</a:t>
                      </a:r>
                    </a:p>
                    <a:p>
                      <a:pPr algn="ctr"/>
                      <a:r>
                        <a:rPr lang="en-US" sz="1200" dirty="0"/>
                        <a:t>I/O 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2*10</a:t>
                      </a:r>
                    </a:p>
                    <a:p>
                      <a:pPr algn="ctr"/>
                      <a:r>
                        <a:rPr lang="en-US" sz="1200" dirty="0"/>
                        <a:t>1*100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0343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19A048-7F95-694C-FEF6-EAD9FC968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120183"/>
              </p:ext>
            </p:extLst>
          </p:nvPr>
        </p:nvGraphicFramePr>
        <p:xfrm>
          <a:off x="3914726" y="2284816"/>
          <a:ext cx="3643755" cy="1610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123">
                  <a:extLst>
                    <a:ext uri="{9D8B030D-6E8A-4147-A177-3AD203B41FA5}">
                      <a16:colId xmlns:a16="http://schemas.microsoft.com/office/drawing/2014/main" val="3475435048"/>
                    </a:ext>
                  </a:extLst>
                </a:gridCol>
                <a:gridCol w="766754">
                  <a:extLst>
                    <a:ext uri="{9D8B030D-6E8A-4147-A177-3AD203B41FA5}">
                      <a16:colId xmlns:a16="http://schemas.microsoft.com/office/drawing/2014/main" val="1684969293"/>
                    </a:ext>
                  </a:extLst>
                </a:gridCol>
                <a:gridCol w="910939">
                  <a:extLst>
                    <a:ext uri="{9D8B030D-6E8A-4147-A177-3AD203B41FA5}">
                      <a16:colId xmlns:a16="http://schemas.microsoft.com/office/drawing/2014/main" val="1553246784"/>
                    </a:ext>
                  </a:extLst>
                </a:gridCol>
                <a:gridCol w="910939">
                  <a:extLst>
                    <a:ext uri="{9D8B030D-6E8A-4147-A177-3AD203B41FA5}">
                      <a16:colId xmlns:a16="http://schemas.microsoft.com/office/drawing/2014/main" val="332931332"/>
                    </a:ext>
                  </a:extLst>
                </a:gridCol>
              </a:tblGrid>
              <a:tr h="661158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  <a:p>
                      <a:pPr algn="ctr"/>
                      <a:r>
                        <a:rPr lang="en-US" sz="1200" dirty="0"/>
                        <a:t>OTN2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Used</a:t>
                      </a:r>
                    </a:p>
                    <a:p>
                      <a:pPr algn="ctr"/>
                      <a:r>
                        <a:rPr lang="en-US" sz="1200" dirty="0"/>
                        <a:t>capacity,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Occupied</a:t>
                      </a:r>
                    </a:p>
                    <a:p>
                      <a:pPr algn="ctr"/>
                      <a:r>
                        <a:rPr lang="en-US" sz="1200" dirty="0"/>
                        <a:t>capacity,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</a:t>
                      </a:r>
                    </a:p>
                    <a:p>
                      <a:pPr algn="ctr"/>
                      <a:r>
                        <a:rPr lang="en-US" sz="1200" dirty="0"/>
                        <a:t> of used 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043909"/>
                  </a:ext>
                </a:extLst>
              </a:tr>
              <a:tr h="4722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OTN1-OTN2</a:t>
                      </a:r>
                    </a:p>
                    <a:p>
                      <a:pPr algn="ctr"/>
                      <a:r>
                        <a:rPr lang="en-US" sz="1200" dirty="0"/>
                        <a:t>I/O 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2*100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405408"/>
                  </a:ext>
                </a:extLst>
              </a:tr>
              <a:tr h="47738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Optical</a:t>
                      </a:r>
                    </a:p>
                    <a:p>
                      <a:pPr algn="ctr"/>
                      <a:r>
                        <a:rPr lang="en-US" sz="1200" dirty="0"/>
                        <a:t>transponders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3*200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0343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E2E4ACA-D883-0249-F9A3-928BFB3A6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011487"/>
              </p:ext>
            </p:extLst>
          </p:nvPr>
        </p:nvGraphicFramePr>
        <p:xfrm>
          <a:off x="6293977" y="4221178"/>
          <a:ext cx="2649057" cy="1094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019">
                  <a:extLst>
                    <a:ext uri="{9D8B030D-6E8A-4147-A177-3AD203B41FA5}">
                      <a16:colId xmlns:a16="http://schemas.microsoft.com/office/drawing/2014/main" val="2640900624"/>
                    </a:ext>
                  </a:extLst>
                </a:gridCol>
                <a:gridCol w="883019">
                  <a:extLst>
                    <a:ext uri="{9D8B030D-6E8A-4147-A177-3AD203B41FA5}">
                      <a16:colId xmlns:a16="http://schemas.microsoft.com/office/drawing/2014/main" val="1088960096"/>
                    </a:ext>
                  </a:extLst>
                </a:gridCol>
                <a:gridCol w="883019">
                  <a:extLst>
                    <a:ext uri="{9D8B030D-6E8A-4147-A177-3AD203B41FA5}">
                      <a16:colId xmlns:a16="http://schemas.microsoft.com/office/drawing/2014/main" val="3564966311"/>
                    </a:ext>
                  </a:extLst>
                </a:gridCol>
              </a:tblGrid>
              <a:tr h="318613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10G grooming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100G grooming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532968"/>
                  </a:ext>
                </a:extLst>
              </a:tr>
              <a:tr h="31861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OTN1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489095"/>
                  </a:ext>
                </a:extLst>
              </a:tr>
              <a:tr h="31861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OTN2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7949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04356C2-C662-5826-C9B3-1DB6A1EB5DFF}"/>
              </a:ext>
            </a:extLst>
          </p:cNvPr>
          <p:cNvSpPr txBox="1"/>
          <p:nvPr/>
        </p:nvSpPr>
        <p:spPr>
          <a:xfrm>
            <a:off x="609539" y="1128253"/>
            <a:ext cx="10805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Considering the effect of different granulation, if services on capacity and ODU’s of OTN1 &amp; OTN 2</a:t>
            </a:r>
          </a:p>
        </p:txBody>
      </p:sp>
    </p:spTree>
    <p:extLst>
      <p:ext uri="{BB962C8B-B14F-4D97-AF65-F5344CB8AC3E}">
        <p14:creationId xmlns:p14="http://schemas.microsoft.com/office/powerpoint/2010/main" val="1099756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823CD-9DCB-FE83-3858-49F1ECE60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A38132-F753-F035-D097-4430AF4C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5</a:t>
            </a:fld>
            <a:r>
              <a:rPr lang="it-IT" dirty="0"/>
              <a:t>/12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3AFBC5-0D2F-F9E6-496E-B7C0E808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FEE24-2DFB-86E0-08A5-570EC1882FF0}"/>
              </a:ext>
            </a:extLst>
          </p:cNvPr>
          <p:cNvSpPr txBox="1"/>
          <p:nvPr/>
        </p:nvSpPr>
        <p:spPr>
          <a:xfrm>
            <a:off x="1130531" y="1361331"/>
            <a:ext cx="40399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Heuristic approach for routing services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7FD60-E9B2-BA6C-312E-AB08E47FCD8F}"/>
              </a:ext>
            </a:extLst>
          </p:cNvPr>
          <p:cNvSpPr txBox="1"/>
          <p:nvPr/>
        </p:nvSpPr>
        <p:spPr>
          <a:xfrm>
            <a:off x="6930046" y="1361331"/>
            <a:ext cx="2870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Grooming Process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1969D4E-3308-DEA0-6084-1C8E3239D9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3"/>
          <a:stretch/>
        </p:blipFill>
        <p:spPr bwMode="auto">
          <a:xfrm>
            <a:off x="5386646" y="2075057"/>
            <a:ext cx="5627342" cy="390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1038F94-82DD-C21D-921A-FC001B4F1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605" y="2315438"/>
            <a:ext cx="2592311" cy="3549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06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D7F451-2EE6-61AA-950F-53ED9C40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6</a:t>
            </a:fld>
            <a:r>
              <a:rPr lang="it-IT" dirty="0"/>
              <a:t>/12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9DADD3-EF47-3070-12A7-73E74D206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B0DCEA-7022-1ADE-7E7B-BA69B0B4C7BB}"/>
              </a:ext>
            </a:extLst>
          </p:cNvPr>
          <p:cNvSpPr txBox="1"/>
          <p:nvPr/>
        </p:nvSpPr>
        <p:spPr>
          <a:xfrm>
            <a:off x="573416" y="1233244"/>
            <a:ext cx="4740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Node (OTN1 &amp; OTN2 switches)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3C06F-CCCD-FEAC-9AC1-095F95AFD4E7}"/>
              </a:ext>
            </a:extLst>
          </p:cNvPr>
          <p:cNvSpPr txBox="1"/>
          <p:nvPr/>
        </p:nvSpPr>
        <p:spPr>
          <a:xfrm>
            <a:off x="7337827" y="1233244"/>
            <a:ext cx="29592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Add server to links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E82FA2C-1252-813D-03D3-E28CE52E42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" t="4071" r="3891" b="3841"/>
          <a:stretch/>
        </p:blipFill>
        <p:spPr bwMode="auto">
          <a:xfrm>
            <a:off x="0" y="2079624"/>
            <a:ext cx="6423529" cy="363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E4BDA96-44B0-B565-D08D-84D564BE9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250" y="1912275"/>
            <a:ext cx="5557761" cy="3483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4979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AA00CC-10D4-28D4-4DB5-83CB1545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7</a:t>
            </a:fld>
            <a:r>
              <a:rPr lang="it-IT" dirty="0"/>
              <a:t>/12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1F6FF8-7099-9D9E-0A3D-D0E927E58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6E551-356E-ED09-9A5E-97E7A3B30D2F}"/>
              </a:ext>
            </a:extLst>
          </p:cNvPr>
          <p:cNvSpPr txBox="1"/>
          <p:nvPr/>
        </p:nvSpPr>
        <p:spPr>
          <a:xfrm>
            <a:off x="3746376" y="1118587"/>
            <a:ext cx="4110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Model of OTN2 Processing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9B2317C-314E-7449-6619-5868D0E2D3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0" t="8097" r="7854" b="7043"/>
          <a:stretch/>
        </p:blipFill>
        <p:spPr bwMode="auto">
          <a:xfrm>
            <a:off x="1828800" y="1641807"/>
            <a:ext cx="8534400" cy="453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5190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55EB84-9634-109E-7798-B087EED5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8</a:t>
            </a:fld>
            <a:r>
              <a:rPr lang="it-IT" dirty="0"/>
              <a:t>/12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9EB563-6363-CE97-C28F-9C76F7FF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31143C-C97A-F659-35BC-55FF5497E0E8}"/>
              </a:ext>
            </a:extLst>
          </p:cNvPr>
          <p:cNvSpPr txBox="1"/>
          <p:nvPr/>
        </p:nvSpPr>
        <p:spPr>
          <a:xfrm>
            <a:off x="105355" y="1043173"/>
            <a:ext cx="24838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National topology:       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#nodes=10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#links=16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4616C8-1448-0455-9F3C-228EA82B0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218" y="1043173"/>
            <a:ext cx="7674605" cy="25396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052AF6-EA57-B486-B779-CB8B55676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218" y="3582785"/>
            <a:ext cx="7678896" cy="253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46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E85D8A-5747-EF90-DF1D-EC9430F92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9</a:t>
            </a:fld>
            <a:r>
              <a:rPr lang="it-IT" dirty="0"/>
              <a:t>/12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E7A52D-9F9E-72BA-C30D-5335DDA6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273B7-CF46-8A6F-3FFE-9726EB90A7B7}"/>
              </a:ext>
            </a:extLst>
          </p:cNvPr>
          <p:cNvSpPr txBox="1"/>
          <p:nvPr/>
        </p:nvSpPr>
        <p:spPr>
          <a:xfrm>
            <a:off x="105355" y="1083025"/>
            <a:ext cx="3269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Continental topology: 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#nodes=14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#links=24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650561-DAD9-1641-9DB9-E9099C475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442" y="1083025"/>
            <a:ext cx="7740103" cy="25598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F343E4-14F9-4AC8-9614-CBDF6596D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441" y="3642880"/>
            <a:ext cx="7740103" cy="255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07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FEAA4B-E093-71AE-6DA8-15758D97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10</a:t>
            </a:fld>
            <a:r>
              <a:rPr lang="it-IT" dirty="0"/>
              <a:t>/12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CA1A4E-5AF2-7AB2-6376-A9175B802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33" y="118501"/>
            <a:ext cx="6971271" cy="543697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A46E6AB-230F-41C5-9227-787EB1265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666666"/>
              </p:ext>
            </p:extLst>
          </p:nvPr>
        </p:nvGraphicFramePr>
        <p:xfrm>
          <a:off x="3029308" y="1231404"/>
          <a:ext cx="6133383" cy="1917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461">
                  <a:extLst>
                    <a:ext uri="{9D8B030D-6E8A-4147-A177-3AD203B41FA5}">
                      <a16:colId xmlns:a16="http://schemas.microsoft.com/office/drawing/2014/main" val="1231851591"/>
                    </a:ext>
                  </a:extLst>
                </a:gridCol>
                <a:gridCol w="2044461">
                  <a:extLst>
                    <a:ext uri="{9D8B030D-6E8A-4147-A177-3AD203B41FA5}">
                      <a16:colId xmlns:a16="http://schemas.microsoft.com/office/drawing/2014/main" val="3380706698"/>
                    </a:ext>
                  </a:extLst>
                </a:gridCol>
                <a:gridCol w="2044461">
                  <a:extLst>
                    <a:ext uri="{9D8B030D-6E8A-4147-A177-3AD203B41FA5}">
                      <a16:colId xmlns:a16="http://schemas.microsoft.com/office/drawing/2014/main" val="211641168"/>
                    </a:ext>
                  </a:extLst>
                </a:gridCol>
              </a:tblGrid>
              <a:tr h="36357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National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100G grooming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10G grooming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39128"/>
                  </a:ext>
                </a:extLst>
              </a:tr>
              <a:tr h="3272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362</a:t>
                      </a:r>
                    </a:p>
                    <a:p>
                      <a:pPr algn="ctr"/>
                      <a:r>
                        <a:rPr lang="en-US" sz="1200" dirty="0"/>
                        <a:t>(3.77)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453</a:t>
                      </a:r>
                    </a:p>
                    <a:p>
                      <a:pPr algn="ctr"/>
                      <a:r>
                        <a:rPr lang="en-US" sz="1200" dirty="0"/>
                        <a:t>(3.85)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620184"/>
                  </a:ext>
                </a:extLst>
              </a:tr>
              <a:tr h="545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transponders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218</a:t>
                      </a:r>
                    </a:p>
                    <a:p>
                      <a:pPr algn="ctr"/>
                      <a:r>
                        <a:rPr lang="en-US" sz="1200" dirty="0"/>
                        <a:t>(1.70)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198</a:t>
                      </a:r>
                    </a:p>
                    <a:p>
                      <a:pPr algn="ctr"/>
                      <a:r>
                        <a:rPr lang="en-US" sz="1200" dirty="0"/>
                        <a:t>(1.13)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090859"/>
                  </a:ext>
                </a:extLst>
              </a:tr>
              <a:tr h="55169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occupied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162</a:t>
                      </a:r>
                    </a:p>
                    <a:p>
                      <a:pPr algn="ctr"/>
                      <a:r>
                        <a:rPr lang="en-US" sz="1200" dirty="0"/>
                        <a:t>(2.02)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134</a:t>
                      </a:r>
                    </a:p>
                    <a:p>
                      <a:pPr algn="ctr"/>
                      <a:r>
                        <a:rPr lang="en-US" sz="1200" dirty="0"/>
                        <a:t>(1.74)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08086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DBFD112-68BE-F9EF-D4A3-531D5EF1A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367832"/>
              </p:ext>
            </p:extLst>
          </p:nvPr>
        </p:nvGraphicFramePr>
        <p:xfrm>
          <a:off x="3029307" y="3288205"/>
          <a:ext cx="6133380" cy="1917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460">
                  <a:extLst>
                    <a:ext uri="{9D8B030D-6E8A-4147-A177-3AD203B41FA5}">
                      <a16:colId xmlns:a16="http://schemas.microsoft.com/office/drawing/2014/main" val="2224050547"/>
                    </a:ext>
                  </a:extLst>
                </a:gridCol>
                <a:gridCol w="2044460">
                  <a:extLst>
                    <a:ext uri="{9D8B030D-6E8A-4147-A177-3AD203B41FA5}">
                      <a16:colId xmlns:a16="http://schemas.microsoft.com/office/drawing/2014/main" val="1239048390"/>
                    </a:ext>
                  </a:extLst>
                </a:gridCol>
                <a:gridCol w="2044460">
                  <a:extLst>
                    <a:ext uri="{9D8B030D-6E8A-4147-A177-3AD203B41FA5}">
                      <a16:colId xmlns:a16="http://schemas.microsoft.com/office/drawing/2014/main" val="279647938"/>
                    </a:ext>
                  </a:extLst>
                </a:gridCol>
              </a:tblGrid>
              <a:tr h="36357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Continental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100G grooming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10G grooming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15795"/>
                  </a:ext>
                </a:extLst>
              </a:tr>
              <a:tr h="3272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471</a:t>
                      </a:r>
                    </a:p>
                    <a:p>
                      <a:pPr algn="ctr"/>
                      <a:r>
                        <a:rPr lang="en-US" sz="1200" dirty="0"/>
                        <a:t>(4.50)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557</a:t>
                      </a:r>
                    </a:p>
                    <a:p>
                      <a:pPr algn="ctr"/>
                      <a:r>
                        <a:rPr lang="en-US" sz="1200" dirty="0"/>
                        <a:t>(4.01)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96657"/>
                  </a:ext>
                </a:extLst>
              </a:tr>
              <a:tr h="5453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transponders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297</a:t>
                      </a:r>
                    </a:p>
                    <a:p>
                      <a:pPr algn="ctr"/>
                      <a:r>
                        <a:rPr lang="en-US" sz="1200" dirty="0"/>
                        <a:t>(2.43)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272</a:t>
                      </a:r>
                    </a:p>
                    <a:p>
                      <a:pPr algn="ctr"/>
                      <a:r>
                        <a:rPr lang="en-US" sz="1200" dirty="0"/>
                        <a:t>(1.77)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981949"/>
                  </a:ext>
                </a:extLst>
              </a:tr>
              <a:tr h="55169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occupied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307</a:t>
                      </a:r>
                    </a:p>
                    <a:p>
                      <a:pPr algn="ctr"/>
                      <a:r>
                        <a:rPr lang="en-US" sz="1200" dirty="0"/>
                        <a:t>(1.97)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281</a:t>
                      </a:r>
                    </a:p>
                    <a:p>
                      <a:pPr algn="ctr"/>
                      <a:r>
                        <a:rPr lang="en-US" sz="1200" dirty="0"/>
                        <a:t>(1.67)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30038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08461B4-D766-97C0-62BF-0B836DFF0DAC}"/>
              </a:ext>
            </a:extLst>
          </p:cNvPr>
          <p:cNvSpPr txBox="1"/>
          <p:nvPr/>
        </p:nvSpPr>
        <p:spPr>
          <a:xfrm>
            <a:off x="3101658" y="5206505"/>
            <a:ext cx="598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Numbers in the table are mean value and numbers in the parenthesis are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3465127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BED083-A83B-845F-39FA-0A0840122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11</a:t>
            </a:fld>
            <a:r>
              <a:rPr lang="it-IT" dirty="0"/>
              <a:t>/12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4923A4-A941-BC49-0B72-DE2FD11F2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steps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E8C30-B3D5-042C-9596-396EA4A39F43}"/>
              </a:ext>
            </a:extLst>
          </p:cNvPr>
          <p:cNvSpPr txBox="1"/>
          <p:nvPr/>
        </p:nvSpPr>
        <p:spPr>
          <a:xfrm>
            <a:off x="345056" y="1328468"/>
            <a:ext cx="1137824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Local search for improving heuristic routing of services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Optimizing capacity and bandwidth utilization by choosing each OTN2 node grooming separately </a:t>
            </a:r>
          </a:p>
        </p:txBody>
      </p:sp>
    </p:spTree>
    <p:extLst>
      <p:ext uri="{BB962C8B-B14F-4D97-AF65-F5344CB8AC3E}">
        <p14:creationId xmlns:p14="http://schemas.microsoft.com/office/powerpoint/2010/main" val="3688385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CC0A6-28A1-9C4E-5402-1A398D4EC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12</a:t>
            </a:fld>
            <a:r>
              <a:rPr lang="it-IT" dirty="0"/>
              <a:t>/12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2C1026-70AB-B682-DBC4-77CDDE8F1661}"/>
              </a:ext>
            </a:extLst>
          </p:cNvPr>
          <p:cNvSpPr txBox="1"/>
          <p:nvPr/>
        </p:nvSpPr>
        <p:spPr>
          <a:xfrm>
            <a:off x="3942080" y="2828835"/>
            <a:ext cx="4307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55077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518</Words>
  <Application>Microsoft Office PowerPoint</Application>
  <PresentationFormat>Widescreen</PresentationFormat>
  <Paragraphs>156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Traffic Grooming in OTN2</vt:lpstr>
      <vt:lpstr>Introduction</vt:lpstr>
      <vt:lpstr>Problem Statement</vt:lpstr>
      <vt:lpstr>Example</vt:lpstr>
      <vt:lpstr>Methodology</vt:lpstr>
      <vt:lpstr>Structures</vt:lpstr>
      <vt:lpstr>Structure</vt:lpstr>
      <vt:lpstr>Results</vt:lpstr>
      <vt:lpstr>Results</vt:lpstr>
      <vt:lpstr>Results</vt:lpstr>
      <vt:lpstr>Future steps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Riccardo Simonetti</dc:creator>
  <cp:lastModifiedBy>Zahra Nazar Zadeh Attar</cp:lastModifiedBy>
  <cp:revision>33</cp:revision>
  <dcterms:created xsi:type="dcterms:W3CDTF">2019-02-13T14:58:22Z</dcterms:created>
  <dcterms:modified xsi:type="dcterms:W3CDTF">2025-03-05T23:15:30Z</dcterms:modified>
</cp:coreProperties>
</file>